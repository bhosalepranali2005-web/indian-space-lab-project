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50" d="100"/>
          <a:sy n="50" d="100"/>
        </p:scale>
        <p:origin x="52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80B0AE-C7F9-4DBA-9DD6-89B5FCC39D0B}" type="doc">
      <dgm:prSet loTypeId="urn:microsoft.com/office/officeart/2005/8/layout/list1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42C817C3-1BAA-4DEF-8F5E-A5DC5180EAC5}">
      <dgm:prSet custT="1"/>
      <dgm:spPr/>
      <dgm:t>
        <a:bodyPr/>
        <a:lstStyle/>
        <a:p>
          <a:r>
            <a:rPr lang="en-US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Primary Objectives:</a:t>
          </a:r>
          <a:endParaRPr lang="en-US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40C8EAB-D4DF-46D3-BFAC-EB4FDAF5A63C}" type="parTrans" cxnId="{4C7B06AF-DE48-4078-9A35-BB55E5FA43A4}">
      <dgm:prSet/>
      <dgm:spPr/>
      <dgm:t>
        <a:bodyPr/>
        <a:lstStyle/>
        <a:p>
          <a:endParaRPr lang="en-US"/>
        </a:p>
      </dgm:t>
    </dgm:pt>
    <dgm:pt modelId="{EADC8F17-D230-40DB-9F19-0D17E8F25B59}" type="sibTrans" cxnId="{4C7B06AF-DE48-4078-9A35-BB55E5FA43A4}">
      <dgm:prSet/>
      <dgm:spPr/>
      <dgm:t>
        <a:bodyPr/>
        <a:lstStyle/>
        <a:p>
          <a:endParaRPr lang="en-US"/>
        </a:p>
      </dgm:t>
    </dgm:pt>
    <dgm:pt modelId="{230518BA-ADCE-422D-948D-ABD5966ABB9D}">
      <dgm:prSet custT="1"/>
      <dgm:spPr/>
      <dgm:t>
        <a:bodyPr/>
        <a:lstStyle/>
        <a:p>
          <a:r>
            <a:rPr lang="en-US" sz="2100" dirty="0">
              <a:latin typeface="Times New Roman" panose="02020603050405020304" pitchFamily="18" charset="0"/>
              <a:cs typeface="Times New Roman" panose="02020603050405020304" pitchFamily="18" charset="0"/>
            </a:rPr>
            <a:t>Analyze root causes and public health impacts of extreme heat events. </a:t>
          </a:r>
        </a:p>
      </dgm:t>
    </dgm:pt>
    <dgm:pt modelId="{3CCDF83C-4915-428F-A032-E18F14D34BE2}" type="parTrans" cxnId="{90E58E35-99B1-4AB5-904E-281646B90605}">
      <dgm:prSet/>
      <dgm:spPr/>
      <dgm:t>
        <a:bodyPr/>
        <a:lstStyle/>
        <a:p>
          <a:endParaRPr lang="en-US"/>
        </a:p>
      </dgm:t>
    </dgm:pt>
    <dgm:pt modelId="{5EF7FC2E-1C67-4A00-BCB3-2639CDADB688}" type="sibTrans" cxnId="{90E58E35-99B1-4AB5-904E-281646B90605}">
      <dgm:prSet/>
      <dgm:spPr/>
      <dgm:t>
        <a:bodyPr/>
        <a:lstStyle/>
        <a:p>
          <a:endParaRPr lang="en-US"/>
        </a:p>
      </dgm:t>
    </dgm:pt>
    <dgm:pt modelId="{49975C46-138B-4453-96BD-B81B5FC3FBA1}">
      <dgm:prSet custT="1"/>
      <dgm:spPr/>
      <dgm:t>
        <a:bodyPr/>
        <a:lstStyle/>
        <a:p>
          <a:r>
            <a:rPr lang="en-US" sz="2100" dirty="0">
              <a:latin typeface="Times New Roman" panose="02020603050405020304" pitchFamily="18" charset="0"/>
              <a:cs typeface="Times New Roman" panose="02020603050405020304" pitchFamily="18" charset="0"/>
            </a:rPr>
            <a:t>Evaluate current heat wave response and post-event recovery measures. </a:t>
          </a:r>
        </a:p>
      </dgm:t>
    </dgm:pt>
    <dgm:pt modelId="{DD5A4CC0-FAD1-45FD-8397-6E18D1B883CD}" type="parTrans" cxnId="{EC5EEB6A-D8BE-48C0-8F89-ECFD1054282B}">
      <dgm:prSet/>
      <dgm:spPr/>
      <dgm:t>
        <a:bodyPr/>
        <a:lstStyle/>
        <a:p>
          <a:endParaRPr lang="en-US"/>
        </a:p>
      </dgm:t>
    </dgm:pt>
    <dgm:pt modelId="{95474A1B-ECAD-4842-9928-D1DAD25CBEDD}" type="sibTrans" cxnId="{EC5EEB6A-D8BE-48C0-8F89-ECFD1054282B}">
      <dgm:prSet/>
      <dgm:spPr/>
      <dgm:t>
        <a:bodyPr/>
        <a:lstStyle/>
        <a:p>
          <a:endParaRPr lang="en-US"/>
        </a:p>
      </dgm:t>
    </dgm:pt>
    <dgm:pt modelId="{A4AC6D93-18EF-4EE5-A37C-F0F4CAB6BC61}">
      <dgm:prSet custT="1"/>
      <dgm:spPr/>
      <dgm:t>
        <a:bodyPr/>
        <a:lstStyle/>
        <a:p>
          <a:r>
            <a:rPr lang="en-US" sz="2100" dirty="0">
              <a:latin typeface="Times New Roman" panose="02020603050405020304" pitchFamily="18" charset="0"/>
              <a:cs typeface="Times New Roman" panose="02020603050405020304" pitchFamily="18" charset="0"/>
            </a:rPr>
            <a:t>Identify long-term climate risks and technological intervention strategies. </a:t>
          </a:r>
        </a:p>
      </dgm:t>
    </dgm:pt>
    <dgm:pt modelId="{8897ADC3-9CD9-4263-B1B2-33ED2CDF74D0}" type="parTrans" cxnId="{E8CCC8B2-97AF-4F65-8F5D-B874CE6352A7}">
      <dgm:prSet/>
      <dgm:spPr/>
      <dgm:t>
        <a:bodyPr/>
        <a:lstStyle/>
        <a:p>
          <a:endParaRPr lang="en-US"/>
        </a:p>
      </dgm:t>
    </dgm:pt>
    <dgm:pt modelId="{C5D19582-801B-46B5-9D6D-426E76C690A1}" type="sibTrans" cxnId="{E8CCC8B2-97AF-4F65-8F5D-B874CE6352A7}">
      <dgm:prSet/>
      <dgm:spPr/>
      <dgm:t>
        <a:bodyPr/>
        <a:lstStyle/>
        <a:p>
          <a:endParaRPr lang="en-US"/>
        </a:p>
      </dgm:t>
    </dgm:pt>
    <dgm:pt modelId="{B9844582-5806-435A-BB80-A3C65D311DDB}">
      <dgm:prSet custT="1"/>
      <dgm:spPr/>
      <dgm:t>
        <a:bodyPr/>
        <a:lstStyle/>
        <a:p>
          <a:r>
            <a:rPr lang="en-US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Secondary Focus:</a:t>
          </a:r>
          <a:endParaRPr lang="en-US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3D50165-B4E2-416C-AB4B-23526E4B5406}" type="parTrans" cxnId="{881C4F5E-56F6-43FD-832A-B2BF73DD7E81}">
      <dgm:prSet/>
      <dgm:spPr/>
      <dgm:t>
        <a:bodyPr/>
        <a:lstStyle/>
        <a:p>
          <a:endParaRPr lang="en-US"/>
        </a:p>
      </dgm:t>
    </dgm:pt>
    <dgm:pt modelId="{8FB3BABA-8D85-45E0-ABFA-2B3214C4325F}" type="sibTrans" cxnId="{881C4F5E-56F6-43FD-832A-B2BF73DD7E81}">
      <dgm:prSet/>
      <dgm:spPr/>
      <dgm:t>
        <a:bodyPr/>
        <a:lstStyle/>
        <a:p>
          <a:endParaRPr lang="en-US"/>
        </a:p>
      </dgm:t>
    </dgm:pt>
    <dgm:pt modelId="{5819F14D-CE0B-4093-84ED-7EF2C457B042}">
      <dgm:prSet custT="1"/>
      <dgm:spPr/>
      <dgm:t>
        <a:bodyPr/>
        <a:lstStyle/>
        <a:p>
          <a:r>
            <a:rPr lang="en-US" sz="2100" dirty="0">
              <a:latin typeface="Times New Roman" panose="02020603050405020304" pitchFamily="18" charset="0"/>
              <a:cs typeface="Times New Roman" panose="02020603050405020304" pitchFamily="18" charset="0"/>
            </a:rPr>
            <a:t>Map vulnerable demographics and Urban Heat Island (UHI) effects. </a:t>
          </a:r>
        </a:p>
      </dgm:t>
    </dgm:pt>
    <dgm:pt modelId="{40F7139C-4D71-4244-A82E-B7B9B60DD2F9}" type="parTrans" cxnId="{1D7D33A2-9210-49E0-924F-7A3B8C1E23DF}">
      <dgm:prSet/>
      <dgm:spPr/>
      <dgm:t>
        <a:bodyPr/>
        <a:lstStyle/>
        <a:p>
          <a:endParaRPr lang="en-US"/>
        </a:p>
      </dgm:t>
    </dgm:pt>
    <dgm:pt modelId="{7B53D6E2-3AF1-4D70-912C-72B68EFEBAE1}" type="sibTrans" cxnId="{1D7D33A2-9210-49E0-924F-7A3B8C1E23DF}">
      <dgm:prSet/>
      <dgm:spPr/>
      <dgm:t>
        <a:bodyPr/>
        <a:lstStyle/>
        <a:p>
          <a:endParaRPr lang="en-US"/>
        </a:p>
      </dgm:t>
    </dgm:pt>
    <dgm:pt modelId="{CD3BD1C1-5BC2-4206-B0C4-B7AF5717B89C}" type="pres">
      <dgm:prSet presAssocID="{BB80B0AE-C7F9-4DBA-9DD6-89B5FCC39D0B}" presName="linear" presStyleCnt="0">
        <dgm:presLayoutVars>
          <dgm:dir/>
          <dgm:animLvl val="lvl"/>
          <dgm:resizeHandles val="exact"/>
        </dgm:presLayoutVars>
      </dgm:prSet>
      <dgm:spPr/>
    </dgm:pt>
    <dgm:pt modelId="{98CFF6A2-598E-4316-9D36-4F908395C9C6}" type="pres">
      <dgm:prSet presAssocID="{42C817C3-1BAA-4DEF-8F5E-A5DC5180EAC5}" presName="parentLin" presStyleCnt="0"/>
      <dgm:spPr/>
    </dgm:pt>
    <dgm:pt modelId="{5F264851-DBB8-4466-A1A0-FE3A8260D733}" type="pres">
      <dgm:prSet presAssocID="{42C817C3-1BAA-4DEF-8F5E-A5DC5180EAC5}" presName="parentLeftMargin" presStyleLbl="node1" presStyleIdx="0" presStyleCnt="2"/>
      <dgm:spPr/>
    </dgm:pt>
    <dgm:pt modelId="{AD3161CA-37ED-4D81-90DC-3E7160762DD1}" type="pres">
      <dgm:prSet presAssocID="{42C817C3-1BAA-4DEF-8F5E-A5DC5180EAC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209070B-58FA-412A-8BDE-BA489F7B8A0A}" type="pres">
      <dgm:prSet presAssocID="{42C817C3-1BAA-4DEF-8F5E-A5DC5180EAC5}" presName="negativeSpace" presStyleCnt="0"/>
      <dgm:spPr/>
    </dgm:pt>
    <dgm:pt modelId="{A0E7D9CF-FD88-457F-90A9-5008FA5E5B3E}" type="pres">
      <dgm:prSet presAssocID="{42C817C3-1BAA-4DEF-8F5E-A5DC5180EAC5}" presName="childText" presStyleLbl="conFgAcc1" presStyleIdx="0" presStyleCnt="2">
        <dgm:presLayoutVars>
          <dgm:bulletEnabled val="1"/>
        </dgm:presLayoutVars>
      </dgm:prSet>
      <dgm:spPr/>
    </dgm:pt>
    <dgm:pt modelId="{38E3C7D7-2EBB-40EC-A368-29993D8C40DE}" type="pres">
      <dgm:prSet presAssocID="{EADC8F17-D230-40DB-9F19-0D17E8F25B59}" presName="spaceBetweenRectangles" presStyleCnt="0"/>
      <dgm:spPr/>
    </dgm:pt>
    <dgm:pt modelId="{ED5D263F-657C-4AB7-BC97-766267161CF3}" type="pres">
      <dgm:prSet presAssocID="{B9844582-5806-435A-BB80-A3C65D311DDB}" presName="parentLin" presStyleCnt="0"/>
      <dgm:spPr/>
    </dgm:pt>
    <dgm:pt modelId="{FB637FC0-CB4A-4DD1-8918-E2984F90A29E}" type="pres">
      <dgm:prSet presAssocID="{B9844582-5806-435A-BB80-A3C65D311DDB}" presName="parentLeftMargin" presStyleLbl="node1" presStyleIdx="0" presStyleCnt="2"/>
      <dgm:spPr/>
    </dgm:pt>
    <dgm:pt modelId="{7F354896-AD6B-408A-AFD8-4BED2787A158}" type="pres">
      <dgm:prSet presAssocID="{B9844582-5806-435A-BB80-A3C65D311DD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7EB3631C-A92B-46B4-986E-D20328636118}" type="pres">
      <dgm:prSet presAssocID="{B9844582-5806-435A-BB80-A3C65D311DDB}" presName="negativeSpace" presStyleCnt="0"/>
      <dgm:spPr/>
    </dgm:pt>
    <dgm:pt modelId="{46F2931D-F4FD-44CA-865C-2826399F5E29}" type="pres">
      <dgm:prSet presAssocID="{B9844582-5806-435A-BB80-A3C65D311DDB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6B038D1A-5A42-4F16-8540-624748B5ACAE}" type="presOf" srcId="{BB80B0AE-C7F9-4DBA-9DD6-89B5FCC39D0B}" destId="{CD3BD1C1-5BC2-4206-B0C4-B7AF5717B89C}" srcOrd="0" destOrd="0" presId="urn:microsoft.com/office/officeart/2005/8/layout/list1"/>
    <dgm:cxn modelId="{B729FC26-14F3-4B36-8772-141A04924F3D}" type="presOf" srcId="{230518BA-ADCE-422D-948D-ABD5966ABB9D}" destId="{A0E7D9CF-FD88-457F-90A9-5008FA5E5B3E}" srcOrd="0" destOrd="0" presId="urn:microsoft.com/office/officeart/2005/8/layout/list1"/>
    <dgm:cxn modelId="{D7BCEB31-B639-4863-B64D-B9B97D751622}" type="presOf" srcId="{5819F14D-CE0B-4093-84ED-7EF2C457B042}" destId="{46F2931D-F4FD-44CA-865C-2826399F5E29}" srcOrd="0" destOrd="0" presId="urn:microsoft.com/office/officeart/2005/8/layout/list1"/>
    <dgm:cxn modelId="{90E58E35-99B1-4AB5-904E-281646B90605}" srcId="{42C817C3-1BAA-4DEF-8F5E-A5DC5180EAC5}" destId="{230518BA-ADCE-422D-948D-ABD5966ABB9D}" srcOrd="0" destOrd="0" parTransId="{3CCDF83C-4915-428F-A032-E18F14D34BE2}" sibTransId="{5EF7FC2E-1C67-4A00-BCB3-2639CDADB688}"/>
    <dgm:cxn modelId="{881C4F5E-56F6-43FD-832A-B2BF73DD7E81}" srcId="{BB80B0AE-C7F9-4DBA-9DD6-89B5FCC39D0B}" destId="{B9844582-5806-435A-BB80-A3C65D311DDB}" srcOrd="1" destOrd="0" parTransId="{C3D50165-B4E2-416C-AB4B-23526E4B5406}" sibTransId="{8FB3BABA-8D85-45E0-ABFA-2B3214C4325F}"/>
    <dgm:cxn modelId="{F7983A41-66A4-4376-A374-1E693946539B}" type="presOf" srcId="{B9844582-5806-435A-BB80-A3C65D311DDB}" destId="{7F354896-AD6B-408A-AFD8-4BED2787A158}" srcOrd="1" destOrd="0" presId="urn:microsoft.com/office/officeart/2005/8/layout/list1"/>
    <dgm:cxn modelId="{EC5EEB6A-D8BE-48C0-8F89-ECFD1054282B}" srcId="{42C817C3-1BAA-4DEF-8F5E-A5DC5180EAC5}" destId="{49975C46-138B-4453-96BD-B81B5FC3FBA1}" srcOrd="1" destOrd="0" parTransId="{DD5A4CC0-FAD1-45FD-8397-6E18D1B883CD}" sibTransId="{95474A1B-ECAD-4842-9928-D1DAD25CBEDD}"/>
    <dgm:cxn modelId="{10F17C57-4FB1-43D5-9C24-307C0A6305E6}" type="presOf" srcId="{42C817C3-1BAA-4DEF-8F5E-A5DC5180EAC5}" destId="{5F264851-DBB8-4466-A1A0-FE3A8260D733}" srcOrd="0" destOrd="0" presId="urn:microsoft.com/office/officeart/2005/8/layout/list1"/>
    <dgm:cxn modelId="{1D7D33A2-9210-49E0-924F-7A3B8C1E23DF}" srcId="{B9844582-5806-435A-BB80-A3C65D311DDB}" destId="{5819F14D-CE0B-4093-84ED-7EF2C457B042}" srcOrd="0" destOrd="0" parTransId="{40F7139C-4D71-4244-A82E-B7B9B60DD2F9}" sibTransId="{7B53D6E2-3AF1-4D70-912C-72B68EFEBAE1}"/>
    <dgm:cxn modelId="{4C7B06AF-DE48-4078-9A35-BB55E5FA43A4}" srcId="{BB80B0AE-C7F9-4DBA-9DD6-89B5FCC39D0B}" destId="{42C817C3-1BAA-4DEF-8F5E-A5DC5180EAC5}" srcOrd="0" destOrd="0" parTransId="{240C8EAB-D4DF-46D3-BFAC-EB4FDAF5A63C}" sibTransId="{EADC8F17-D230-40DB-9F19-0D17E8F25B59}"/>
    <dgm:cxn modelId="{E8CCC8B2-97AF-4F65-8F5D-B874CE6352A7}" srcId="{42C817C3-1BAA-4DEF-8F5E-A5DC5180EAC5}" destId="{A4AC6D93-18EF-4EE5-A37C-F0F4CAB6BC61}" srcOrd="2" destOrd="0" parTransId="{8897ADC3-9CD9-4263-B1B2-33ED2CDF74D0}" sibTransId="{C5D19582-801B-46B5-9D6D-426E76C690A1}"/>
    <dgm:cxn modelId="{9DD57ABD-364B-4DC9-AAAA-9934297F0722}" type="presOf" srcId="{49975C46-138B-4453-96BD-B81B5FC3FBA1}" destId="{A0E7D9CF-FD88-457F-90A9-5008FA5E5B3E}" srcOrd="0" destOrd="1" presId="urn:microsoft.com/office/officeart/2005/8/layout/list1"/>
    <dgm:cxn modelId="{FCC343C8-CCA7-48AC-8890-39B8692FE7E2}" type="presOf" srcId="{A4AC6D93-18EF-4EE5-A37C-F0F4CAB6BC61}" destId="{A0E7D9CF-FD88-457F-90A9-5008FA5E5B3E}" srcOrd="0" destOrd="2" presId="urn:microsoft.com/office/officeart/2005/8/layout/list1"/>
    <dgm:cxn modelId="{052661D2-B1B3-46BE-BA02-01B81B546246}" type="presOf" srcId="{42C817C3-1BAA-4DEF-8F5E-A5DC5180EAC5}" destId="{AD3161CA-37ED-4D81-90DC-3E7160762DD1}" srcOrd="1" destOrd="0" presId="urn:microsoft.com/office/officeart/2005/8/layout/list1"/>
    <dgm:cxn modelId="{CEBA39E4-DF79-4FEA-812D-792F6C169D10}" type="presOf" srcId="{B9844582-5806-435A-BB80-A3C65D311DDB}" destId="{FB637FC0-CB4A-4DD1-8918-E2984F90A29E}" srcOrd="0" destOrd="0" presId="urn:microsoft.com/office/officeart/2005/8/layout/list1"/>
    <dgm:cxn modelId="{2D686C0A-C8BF-4D96-8815-AC793EDCCF54}" type="presParOf" srcId="{CD3BD1C1-5BC2-4206-B0C4-B7AF5717B89C}" destId="{98CFF6A2-598E-4316-9D36-4F908395C9C6}" srcOrd="0" destOrd="0" presId="urn:microsoft.com/office/officeart/2005/8/layout/list1"/>
    <dgm:cxn modelId="{F116ED9F-C4CC-4778-9E45-F58FF3709B75}" type="presParOf" srcId="{98CFF6A2-598E-4316-9D36-4F908395C9C6}" destId="{5F264851-DBB8-4466-A1A0-FE3A8260D733}" srcOrd="0" destOrd="0" presId="urn:microsoft.com/office/officeart/2005/8/layout/list1"/>
    <dgm:cxn modelId="{8C2DC29B-45C9-4CEF-9F1E-288D203ECA5E}" type="presParOf" srcId="{98CFF6A2-598E-4316-9D36-4F908395C9C6}" destId="{AD3161CA-37ED-4D81-90DC-3E7160762DD1}" srcOrd="1" destOrd="0" presId="urn:microsoft.com/office/officeart/2005/8/layout/list1"/>
    <dgm:cxn modelId="{A0B2DB93-71EC-4EC1-ABDE-8C6D594596E3}" type="presParOf" srcId="{CD3BD1C1-5BC2-4206-B0C4-B7AF5717B89C}" destId="{B209070B-58FA-412A-8BDE-BA489F7B8A0A}" srcOrd="1" destOrd="0" presId="urn:microsoft.com/office/officeart/2005/8/layout/list1"/>
    <dgm:cxn modelId="{57B49F9B-C3E3-43D2-8880-EDA143F31C1C}" type="presParOf" srcId="{CD3BD1C1-5BC2-4206-B0C4-B7AF5717B89C}" destId="{A0E7D9CF-FD88-457F-90A9-5008FA5E5B3E}" srcOrd="2" destOrd="0" presId="urn:microsoft.com/office/officeart/2005/8/layout/list1"/>
    <dgm:cxn modelId="{423E1EC4-9DD0-4CB3-92A5-D9D5E35E8BAF}" type="presParOf" srcId="{CD3BD1C1-5BC2-4206-B0C4-B7AF5717B89C}" destId="{38E3C7D7-2EBB-40EC-A368-29993D8C40DE}" srcOrd="3" destOrd="0" presId="urn:microsoft.com/office/officeart/2005/8/layout/list1"/>
    <dgm:cxn modelId="{999F4FD0-2836-4C03-B301-CB34CAF370EE}" type="presParOf" srcId="{CD3BD1C1-5BC2-4206-B0C4-B7AF5717B89C}" destId="{ED5D263F-657C-4AB7-BC97-766267161CF3}" srcOrd="4" destOrd="0" presId="urn:microsoft.com/office/officeart/2005/8/layout/list1"/>
    <dgm:cxn modelId="{9FAD7B5A-7AEA-40CC-B752-61397D622EDC}" type="presParOf" srcId="{ED5D263F-657C-4AB7-BC97-766267161CF3}" destId="{FB637FC0-CB4A-4DD1-8918-E2984F90A29E}" srcOrd="0" destOrd="0" presId="urn:microsoft.com/office/officeart/2005/8/layout/list1"/>
    <dgm:cxn modelId="{FDA79C2F-BA52-4031-B916-DB5BF37B4966}" type="presParOf" srcId="{ED5D263F-657C-4AB7-BC97-766267161CF3}" destId="{7F354896-AD6B-408A-AFD8-4BED2787A158}" srcOrd="1" destOrd="0" presId="urn:microsoft.com/office/officeart/2005/8/layout/list1"/>
    <dgm:cxn modelId="{7555505C-3429-4ED6-9982-E22D7D56D79E}" type="presParOf" srcId="{CD3BD1C1-5BC2-4206-B0C4-B7AF5717B89C}" destId="{7EB3631C-A92B-46B4-986E-D20328636118}" srcOrd="5" destOrd="0" presId="urn:microsoft.com/office/officeart/2005/8/layout/list1"/>
    <dgm:cxn modelId="{478EBE69-7F75-4DE1-9012-E0BBEEAA5CBA}" type="presParOf" srcId="{CD3BD1C1-5BC2-4206-B0C4-B7AF5717B89C}" destId="{46F2931D-F4FD-44CA-865C-2826399F5E29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E7D9CF-FD88-457F-90A9-5008FA5E5B3E}">
      <dsp:nvSpPr>
        <dsp:cNvPr id="0" name=""/>
        <dsp:cNvSpPr/>
      </dsp:nvSpPr>
      <dsp:spPr>
        <a:xfrm>
          <a:off x="0" y="312983"/>
          <a:ext cx="4589373" cy="315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6186" tIns="416560" rIns="356186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Analyze root causes and public health impacts of extreme heat events. 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Evaluate current heat wave response and post-event recovery measures. 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Identify long-term climate risks and technological intervention strategies. </a:t>
          </a:r>
        </a:p>
      </dsp:txBody>
      <dsp:txXfrm>
        <a:off x="0" y="312983"/>
        <a:ext cx="4589373" cy="3150000"/>
      </dsp:txXfrm>
    </dsp:sp>
    <dsp:sp modelId="{AD3161CA-37ED-4D81-90DC-3E7160762DD1}">
      <dsp:nvSpPr>
        <dsp:cNvPr id="0" name=""/>
        <dsp:cNvSpPr/>
      </dsp:nvSpPr>
      <dsp:spPr>
        <a:xfrm>
          <a:off x="229468" y="17783"/>
          <a:ext cx="3212561" cy="5904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427" tIns="0" rIns="121427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Primary Objectives: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58289" y="46604"/>
        <a:ext cx="3154919" cy="532758"/>
      </dsp:txXfrm>
    </dsp:sp>
    <dsp:sp modelId="{46F2931D-F4FD-44CA-865C-2826399F5E29}">
      <dsp:nvSpPr>
        <dsp:cNvPr id="0" name=""/>
        <dsp:cNvSpPr/>
      </dsp:nvSpPr>
      <dsp:spPr>
        <a:xfrm>
          <a:off x="0" y="3866183"/>
          <a:ext cx="4589373" cy="1417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6186" tIns="416560" rIns="356186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Map vulnerable demographics and Urban Heat Island (UHI) effects. </a:t>
          </a:r>
        </a:p>
      </dsp:txBody>
      <dsp:txXfrm>
        <a:off x="0" y="3866183"/>
        <a:ext cx="4589373" cy="1417500"/>
      </dsp:txXfrm>
    </dsp:sp>
    <dsp:sp modelId="{7F354896-AD6B-408A-AFD8-4BED2787A158}">
      <dsp:nvSpPr>
        <dsp:cNvPr id="0" name=""/>
        <dsp:cNvSpPr/>
      </dsp:nvSpPr>
      <dsp:spPr>
        <a:xfrm>
          <a:off x="229468" y="3570983"/>
          <a:ext cx="3212561" cy="5904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427" tIns="0" rIns="121427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Secondary Focus: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58289" y="3599804"/>
        <a:ext cx="3154919" cy="5327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B939D-BDCA-4B3C-523E-1DFBA36A5A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BF822B-39F2-8130-E367-081014918F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F6B76-200C-63B2-6987-2F8EEC4F9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B95C1-268A-4184-A897-47F2E4480E50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39C7C3-1023-2644-E4D5-AEC769608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847CB-A691-3193-8EB2-67D046C33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28388-73FC-4558-936F-2E21AAA90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359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21E13-7B83-D118-D137-D516DCFC9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BA341-02D0-32F2-EB7D-AF4FEF5DE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2C1E8B-F046-6A40-32C0-A50DC6408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B95C1-268A-4184-A897-47F2E4480E50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4C882-33E4-21D2-6D59-1E94B29CC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21672-29DD-B7A8-C30C-6988F521E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28388-73FC-4558-936F-2E21AAA90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594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61058-CC54-937D-D9F2-275CEB9B7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2366CC-E707-A17F-7983-DDF6B97FB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0C814-835E-E789-584B-AEF942B66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B95C1-268A-4184-A897-47F2E4480E50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5AC5B-228F-CFDC-EBD8-D4F01DB08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B824A-AA36-5832-7CB1-34BA841A7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28388-73FC-4558-936F-2E21AAA90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22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D44ED-5E9B-2437-F658-C375EEB85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03F97-3763-86A2-EFBD-5F3679A76D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5DE95A-1E03-A4DC-44C2-3E0F117B69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EA0409-3344-6167-C553-11D2A0C58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B95C1-268A-4184-A897-47F2E4480E50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1AB078-2F5D-4820-6645-7C4F4820D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974A43-024B-35CE-D9A1-8FD36AB92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28388-73FC-4558-936F-2E21AAA90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914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9810F-DED2-804F-9E40-E242BE80C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0AB65E-877F-8437-C712-74ECEDB47D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8CE11C-1767-FA62-F0E0-92CDF225BB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1BC7BD-76DE-536C-847E-9A727D1AB5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7301AD-0580-6BA2-D2F0-339B82A5C3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3DE4D0-96C5-2B53-8AB0-0E7D3D4D4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B95C1-268A-4184-A897-47F2E4480E50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5F937B-E31B-6D93-DA68-676FA8B00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AAF5E6-05A5-0414-940B-0FD40CE3F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28388-73FC-4558-936F-2E21AAA90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356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A5015-6E00-E591-3C06-D540044E3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8EF22D-F4F9-74D9-0479-C857966DD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B95C1-268A-4184-A897-47F2E4480E50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D56347-651B-5566-D70D-9752CFE0D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201DFA-37F1-91E6-394E-F0CD3679E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28388-73FC-4558-936F-2E21AAA90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902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752F43-D347-F634-5485-F837BE67F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B95C1-268A-4184-A897-47F2E4480E50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ECA931-9934-D437-08FD-4D8CC0E7C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39845F-D4AE-EDEA-D277-D5E11A8EE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28388-73FC-4558-936F-2E21AAA90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725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FF8F9-4D03-242E-8C46-193C5F445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3CB5C-E3CD-F333-9AA5-822A7548E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8C988C-A2D0-664E-7DD4-CB66B1238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2CA5F8-DDBB-CC3F-EE77-B476068D2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B95C1-268A-4184-A897-47F2E4480E50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FAF57D-9470-F47F-8EBD-2F697F730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ACCB70-2C00-E89E-F091-0706635B1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28388-73FC-4558-936F-2E21AAA90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509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B1BDE-B637-D2DD-FAE2-42AC90D8F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9D1E13-74CB-1B43-4FEF-E9007301EF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218CF9-0507-2DF3-1B93-362653F142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FA4A61-2E43-8788-6F53-CF25DB909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B95C1-268A-4184-A897-47F2E4480E50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D7DE6-14A7-AF28-4AA7-907DD6501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C13805-0139-4270-B551-FE87BB2D7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28388-73FC-4558-936F-2E21AAA90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778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DABBA-F508-B4CA-0A13-4F73ED6A6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EC665C-3ED2-1B24-7AC4-C423998415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14BC1-756F-5A7F-8D06-54F9325A3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B95C1-268A-4184-A897-47F2E4480E50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7617D-8E75-1829-D8DA-4F26C3937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589C8F-99FC-E62F-ADE1-A6A2C8F08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28388-73FC-4558-936F-2E21AAA90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059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591A78-9177-0E3F-4E22-081F06A713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0AC1A9-68E8-752F-AEF2-CD392212A8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7A153-829A-A424-D441-D3541406A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B95C1-268A-4184-A897-47F2E4480E50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F8BACB-851B-613A-0E2D-5CA97A734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E1B72-F782-3A6E-50AA-1DD24E936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28388-73FC-4558-936F-2E21AAA90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73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D6EC03-38F0-A895-3876-FBC41E997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0D9553-6108-D236-46FF-F15BA0EBB1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9A763-2441-FE71-8049-D98FFC406F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6B95C1-268A-4184-A897-47F2E4480E50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33FB6-0266-31E1-1939-F42CDDF70D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405D2-9DEF-BDE7-2193-652E984B46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028388-73FC-4558-936F-2E21AAA90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472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!!Rectangle">
            <a:extLst>
              <a:ext uri="{FF2B5EF4-FFF2-40B4-BE49-F238E27FC236}">
                <a16:creationId xmlns:a16="http://schemas.microsoft.com/office/drawing/2014/main" id="{7C432AFE-B3D2-4BFF-BF8F-96C27AFF1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E0EC7F-E6A7-F0BB-1E53-63BBC4AD9F8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r="888" b="-1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3BEF6D-96B5-63A6-D267-08EF5EB1D3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9" y="941832"/>
            <a:ext cx="10506456" cy="20574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500" b="1">
                <a:solidFill>
                  <a:schemeClr val="bg1"/>
                </a:solidFill>
              </a:rPr>
              <a:t>Title:</a:t>
            </a:r>
            <a:r>
              <a:rPr lang="en-US" sz="3500">
                <a:solidFill>
                  <a:schemeClr val="bg1"/>
                </a:solidFill>
              </a:rPr>
              <a:t> Heat Wave Response, Recovery, Future Challenges, and the Role of Technology </a:t>
            </a:r>
            <a:br>
              <a:rPr lang="en-US" sz="3500">
                <a:solidFill>
                  <a:schemeClr val="bg1"/>
                </a:solidFill>
              </a:rPr>
            </a:br>
            <a:r>
              <a:rPr lang="en-US" sz="3500" b="1">
                <a:solidFill>
                  <a:schemeClr val="bg1"/>
                </a:solidFill>
              </a:rPr>
              <a:t>Subtitle:</a:t>
            </a:r>
            <a:r>
              <a:rPr lang="en-US" sz="3500">
                <a:solidFill>
                  <a:schemeClr val="bg1"/>
                </a:solidFill>
              </a:rPr>
              <a:t> A Ground-Level Assessment and Preparedness Study 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01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3241202"/>
            <a:ext cx="10506456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AC0DDB-44A6-6E33-FA90-211618447E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3502152"/>
            <a:ext cx="10506456" cy="2670048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chemeClr val="bg1"/>
                </a:solidFill>
              </a:rPr>
              <a:t>Submitted To:</a:t>
            </a:r>
            <a:r>
              <a:rPr lang="en-US" sz="2000">
                <a:solidFill>
                  <a:schemeClr val="bg1"/>
                </a:solidFill>
              </a:rPr>
              <a:t> India Space Lab (ISL), New Delhi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chemeClr val="bg1"/>
                </a:solidFill>
              </a:rPr>
              <a:t>Student Name:</a:t>
            </a:r>
            <a:r>
              <a:rPr lang="en-US" sz="2000">
                <a:solidFill>
                  <a:schemeClr val="bg1"/>
                </a:solidFill>
              </a:rPr>
              <a:t> Bhosale Pranali Pravin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chemeClr val="bg1"/>
                </a:solidFill>
              </a:rPr>
              <a:t>Institute:</a:t>
            </a:r>
            <a:r>
              <a:rPr lang="en-US" sz="2000">
                <a:solidFill>
                  <a:schemeClr val="bg1"/>
                </a:solidFill>
              </a:rPr>
              <a:t> DKTE Society's Textile &amp; Engineering Institute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chemeClr val="bg1"/>
                </a:solidFill>
              </a:rPr>
              <a:t>Roll No:</a:t>
            </a:r>
            <a:r>
              <a:rPr lang="en-US" sz="2000">
                <a:solidFill>
                  <a:schemeClr val="bg1"/>
                </a:solidFill>
              </a:rPr>
              <a:t> 24UET320</a:t>
            </a:r>
            <a:endParaRPr lang="en-US" sz="2000" b="1">
              <a:solidFill>
                <a:schemeClr val="bg1"/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chemeClr val="bg1"/>
                </a:solidFill>
              </a:rPr>
              <a:t>Enrollment No: </a:t>
            </a:r>
            <a:r>
              <a:rPr lang="en-US" sz="2000">
                <a:solidFill>
                  <a:schemeClr val="bg1"/>
                </a:solidFill>
              </a:rPr>
              <a:t>ISL-578965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3198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89D5D69-307E-4862-950C-1A7CC8A22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!!Rectangle">
            <a:extLst>
              <a:ext uri="{FF2B5EF4-FFF2-40B4-BE49-F238E27FC236}">
                <a16:creationId xmlns:a16="http://schemas.microsoft.com/office/drawing/2014/main" id="{2100E061-779B-4006-BC39-114A057A71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89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DE7705-F504-220E-5E6C-B1DEE182D91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 r="888" b="-1"/>
          <a:stretch>
            <a:fillRect/>
          </a:stretch>
        </p:blipFill>
        <p:spPr>
          <a:xfrm>
            <a:off x="20" y="10"/>
            <a:ext cx="12191981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5DB02B3-AFE9-4A7A-6B2F-D7EFBEFED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073" y="698643"/>
            <a:ext cx="5243394" cy="518974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622" y="373056"/>
            <a:ext cx="0" cy="6476066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5948" y="74031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4728" y="969611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10408" y="1484755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4" name="Content Placeholder 20">
            <a:extLst>
              <a:ext uri="{FF2B5EF4-FFF2-40B4-BE49-F238E27FC236}">
                <a16:creationId xmlns:a16="http://schemas.microsoft.com/office/drawing/2014/main" id="{611D552A-275E-E717-C644-9C20BA7C6C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7831503"/>
              </p:ext>
            </p:extLst>
          </p:nvPr>
        </p:nvGraphicFramePr>
        <p:xfrm>
          <a:off x="6484728" y="879355"/>
          <a:ext cx="4589373" cy="53014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60445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250C39F-3F6C-4D53-86D2-7BC6B2FF6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B024CC-86BB-604D-FDF8-E27D5E9E25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88" b="-1"/>
          <a:stretch>
            <a:fillRect/>
          </a:stretch>
        </p:blipFill>
        <p:spPr>
          <a:xfrm>
            <a:off x="27590" y="10"/>
            <a:ext cx="12191980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0A48D59-8581-41F7-B529-F4617FE0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46000">
                <a:schemeClr val="tx1">
                  <a:lumMod val="95000"/>
                  <a:lumOff val="5000"/>
                </a:schemeClr>
              </a:gs>
              <a:gs pos="90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5CFBC-798D-BCD1-6478-41654F035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898" y="616843"/>
            <a:ext cx="5516617" cy="1466455"/>
          </a:xfrm>
        </p:spPr>
        <p:txBody>
          <a:bodyPr anchor="b"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 Area &amp; Research Methodology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5FF1FD8-74E4-77F1-1DBF-B92C96D2E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898" y="2492080"/>
            <a:ext cx="7960273" cy="3015849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 Area: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Heat-prone urban and rural zones in Maharashtra. </a:t>
            </a:r>
          </a:p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Methodology: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Data: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Field observations, temperature tracking, and vulnerability matrices. </a:t>
            </a:r>
          </a:p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Secondary Data: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IMD weather datasets, NDMA Heat Action Plan policies, and municipal records. </a:t>
            </a:r>
          </a:p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Analytical Tools: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GIS mapping concepts, Landsat satellite thermal band analysis. </a:t>
            </a: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481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B89B2E-7C9A-3585-5876-C63311698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95580"/>
            <a:ext cx="4391025" cy="1323439"/>
          </a:xfrm>
        </p:spPr>
        <p:txBody>
          <a:bodyPr anchor="t"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Vulnerable Demographics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0BC53B6-FC0F-310A-C129-B1C8C916F9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358" y="2573289"/>
            <a:ext cx="4889935" cy="3689131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Outdoor Manual Laborers: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Construction workers, agricultural labor, traffic police, sanitation staff. </a:t>
            </a: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Informal Workers: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Street vendors, auto-rickshaw operators. </a:t>
            </a: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Sensitive Groups: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Elderly citizens, infants, pregnant women. </a:t>
            </a: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Informal Settlements: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Dense slum communities with uninsulated roofing and poor ventilation.</a:t>
            </a: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44F35A-BD3F-F32E-83C0-1E1D31280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8648" y="457200"/>
            <a:ext cx="6085490" cy="5738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119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06CDE0-A168-9444-E8C9-063868F93D2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r="888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BDCB40-B43B-7735-1B2F-55B69F61A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Heat Wave Response Mechanisms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9CBCD5A-8203-C47A-06C6-ADCA93DE5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8337331" cy="5032375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Warning Dissemination: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Color-coded IMD alerts (Yellow, Orange, Red) via SMS and media. 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Cooling Infrastructure: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Temporary shade shelters 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at transit centers. 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Hydration Facilities: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Public drinking water kiosks (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Pyaaos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ORS packet distribution. 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Medical Care: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Dedicated hospital heat-stroke wards and ambulance deployment.</a:t>
            </a:r>
          </a:p>
        </p:txBody>
      </p:sp>
    </p:spTree>
    <p:extLst>
      <p:ext uri="{BB962C8B-B14F-4D97-AF65-F5344CB8AC3E}">
        <p14:creationId xmlns:p14="http://schemas.microsoft.com/office/powerpoint/2010/main" val="14671205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9D0576-C37D-823B-BF47-914314ACF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853" y="3963954"/>
            <a:ext cx="5607268" cy="239871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Recovery &amp; Economic Mitigation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AB280E-BCCF-AEB8-3724-D3E2AF85A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731" y="220718"/>
            <a:ext cx="11146221" cy="280201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95BD6-B68A-0C23-560A-2440EB33B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121" y="3963954"/>
            <a:ext cx="5723021" cy="2398713"/>
          </a:xfrm>
        </p:spPr>
        <p:txBody>
          <a:bodyPr anchor="ctr">
            <a:normAutofit/>
          </a:bodyPr>
          <a:lstStyle/>
          <a:p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Health Recovery: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Patient post-heatstroke monitoring and medical follow-up care. </a:t>
            </a:r>
          </a:p>
          <a:p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Livelihood Support: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Social protection policies for daily-wage workers facing lost workdays. </a:t>
            </a:r>
          </a:p>
          <a:p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Restoration: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Emergency municipal water supply routing and livestock heat stress mitigation.</a:t>
            </a:r>
          </a:p>
          <a:p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2374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!!Rectangle">
            <a:extLst>
              <a:ext uri="{FF2B5EF4-FFF2-40B4-BE49-F238E27FC236}">
                <a16:creationId xmlns:a16="http://schemas.microsoft.com/office/drawing/2014/main" id="{362810D9-2C5A-477D-949C-C19189547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11BF9A-A295-8F22-90A3-54A6133F8F9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5000"/>
          </a:blip>
          <a:srcRect r="888" b="-1"/>
          <a:stretch>
            <a:fillRect/>
          </a:stretch>
        </p:blipFill>
        <p:spPr>
          <a:xfrm>
            <a:off x="20" y="-9107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50A8C63-25B9-5DCA-B76D-76A422575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434" y="591344"/>
            <a:ext cx="3878318" cy="558561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Climate Challenges</a:t>
            </a:r>
            <a:b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Arc 3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141CC-A0D3-0F9C-EF27-27FE42917C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4866" y="953293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Intensifying Climate Risks:</a:t>
            </a: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Prolonged summer durations and rising peak temperatures. </a:t>
            </a:r>
          </a:p>
          <a:p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Urban Heat Island Expansion:</a:t>
            </a: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Concrete density retaining high night-time surface radiation. </a:t>
            </a:r>
          </a:p>
          <a:p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 Strain:</a:t>
            </a: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Power grid overloads due to cooling demand and severe water table depletion. </a:t>
            </a:r>
          </a:p>
          <a:p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Economic Productivity Loss:</a:t>
            </a: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Decline in daily outdoor physical work output. </a:t>
            </a:r>
          </a:p>
          <a:p>
            <a:endParaRPr lang="en-US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7544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Freeform: Shape 21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F11F9E-8334-B8FE-B76E-C08B4249D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192" y="1085361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of Modern Technology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Content Placeholder 11">
            <a:extLst>
              <a:ext uri="{FF2B5EF4-FFF2-40B4-BE49-F238E27FC236}">
                <a16:creationId xmlns:a16="http://schemas.microsoft.com/office/drawing/2014/main" id="{DE670A63-AA48-79FB-A331-D36364822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4446528" cy="3207258"/>
          </a:xfrm>
        </p:spPr>
        <p:txBody>
          <a:bodyPr anchor="t">
            <a:noAutofit/>
          </a:bodyPr>
          <a:lstStyle/>
          <a:p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&amp; Forecasting: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Machine learning models for micro-climate risk predictions. </a:t>
            </a:r>
          </a:p>
          <a:p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GIS &amp; Remote Sensing: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Satellite surface thermal band mapping to locate urban hotspots. </a:t>
            </a:r>
          </a:p>
          <a:p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&amp; Sensors: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Automated hyper-local weather sensors and smart irrigation networks. </a:t>
            </a:r>
          </a:p>
          <a:p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Infrastructure: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Cool roof paints, reflective pavements, green roofs, and thermal drones.</a:t>
            </a:r>
          </a:p>
          <a:p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6D4C22C3-A1C5-C7BF-3037-F87994D58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567560"/>
            <a:ext cx="6922008" cy="5357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509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7B641A-1E79-D629-B42A-DF4D051FB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b="1" dirty="0"/>
              <a:t>Key Recommendations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2DB48-5033-86B6-5F5D-A9550A2FF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r>
              <a:rPr lang="en-US" sz="2000" b="1"/>
              <a:t>Cool Roof Policy:</a:t>
            </a:r>
            <a:r>
              <a:rPr lang="en-US" sz="2000"/>
              <a:t> Mandate high-albedo solar-reflective paint on low-income homes and public buildings. </a:t>
            </a:r>
          </a:p>
          <a:p>
            <a:r>
              <a:rPr lang="en-US" sz="2000" b="1"/>
              <a:t>Urban Forestry Expansion:</a:t>
            </a:r>
            <a:r>
              <a:rPr lang="en-US" sz="2000"/>
              <a:t> Create green shelter belts along major roads and urban centers. </a:t>
            </a:r>
          </a:p>
          <a:p>
            <a:r>
              <a:rPr lang="en-US" sz="2000" b="1"/>
              <a:t>IoT Sensor Networks:</a:t>
            </a:r>
            <a:r>
              <a:rPr lang="en-US" sz="2000"/>
              <a:t> Deploy local micro-climate monitoring nodes across municipal districts. </a:t>
            </a:r>
          </a:p>
          <a:p>
            <a:r>
              <a:rPr lang="en-US" sz="2000" b="1"/>
              <a:t>Labor Protection Laws:</a:t>
            </a:r>
            <a:r>
              <a:rPr lang="en-US" sz="2000"/>
              <a:t> Enforce mandatory afternoon work pauses during Orange/Red alerts.</a:t>
            </a:r>
          </a:p>
          <a:p>
            <a:endParaRPr lang="en-US" sz="2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30FF48-B561-B98B-2120-AF5FB2EEF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154" y="1923497"/>
            <a:ext cx="5263577" cy="4089792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282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8521C5-C014-1E1B-E9D9-D95122FC14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7" r="359" b="-2"/>
          <a:stretch>
            <a:fillRect/>
          </a:stretch>
        </p:blipFill>
        <p:spPr>
          <a:xfrm>
            <a:off x="-819149" y="10"/>
            <a:ext cx="9669642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AF90B4-B07F-E7BB-EBC9-284DAB90D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4B252-6C53-F0BB-2916-3AC3D0781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8564" y="2186923"/>
            <a:ext cx="4396736" cy="4305951"/>
          </a:xfrm>
        </p:spPr>
        <p:txBody>
          <a:bodyPr>
            <a:noAutofit/>
          </a:bodyPr>
          <a:lstStyle/>
          <a:p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Disaster Resilience: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Transition from short-term emergency response to long-term proactive planning. </a:t>
            </a:r>
          </a:p>
          <a:p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as a Force Multiplier: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Leveraging GIS, AI, and IoT to protect public health and urban infrastructure. </a:t>
            </a:r>
          </a:p>
          <a:p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Sustainable Future: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Building smart, climate-resilient cities for vulnerable populations. </a:t>
            </a:r>
          </a:p>
          <a:p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3211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555</Words>
  <Application>Microsoft Office PowerPoint</Application>
  <PresentationFormat>Widescreen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Times New Roman</vt:lpstr>
      <vt:lpstr>Office Theme</vt:lpstr>
      <vt:lpstr>Title: Heat Wave Response, Recovery, Future Challenges, and the Role of Technology  Subtitle: A Ground-Level Assessment and Preparedness Study </vt:lpstr>
      <vt:lpstr>Project Objectives</vt:lpstr>
      <vt:lpstr>Study Area &amp; Research Methodology</vt:lpstr>
      <vt:lpstr>Vulnerable Demographics</vt:lpstr>
      <vt:lpstr>Heat Wave Response Mechanisms</vt:lpstr>
      <vt:lpstr>Recovery &amp; Economic Mitigation </vt:lpstr>
      <vt:lpstr>Future Climate Challenges </vt:lpstr>
      <vt:lpstr>Role of Modern Technology</vt:lpstr>
      <vt:lpstr>Key 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Pranali Bhosale</dc:creator>
  <cp:lastModifiedBy>Pranali Bhosale</cp:lastModifiedBy>
  <cp:revision>1</cp:revision>
  <dcterms:created xsi:type="dcterms:W3CDTF">2026-07-25T17:49:27Z</dcterms:created>
  <dcterms:modified xsi:type="dcterms:W3CDTF">2026-07-25T18:47:12Z</dcterms:modified>
</cp:coreProperties>
</file>